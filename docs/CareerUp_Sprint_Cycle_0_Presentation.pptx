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30–40 seconds. Introduce CareerUp and the team. Explain that this presentation covers what the team completed during Sprint Cycle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 minute. Give the audience the big picture of CareerUp. Keep this high-level; Sprint 0 is about preparation, not building features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 minute. Explain that Sprint 0 was about getting the team ready to develop. Mention that the final UI and database design belong to later sprint cycles.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 minute. Show that the repository is the team's official working location and that everyone participated individually.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 minute. Be careful here: the README currently lists technologies, but the group is still discussing the final frontend/backend choices. Do not present those choices as permanent until the team confirms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 minute. Briefly point out the commit history and the terminal showing a successful pull. Explain that each team member is expected to provide similar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 minute. Explain what happened in the first meeting and the Sprint 0 completion meeting. Mention that additional meetings were not needed for this sprint because the required setup work was completed through these meetings and team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45 seconds. Summarize what Sprint 0 accomplished and state that the team is ready to move forward once the remaining technology choices are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CareerUp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06040"/>
            <a:ext cx="10149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Aptos"/>
              </a:defRPr>
            </a:pPr>
            <a:r>
              <a:t>Sprint Cycle 0 — Team Setup &amp; Project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8620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DCE6F0"/>
                </a:solidFill>
              </a:defRPr>
            </a:pPr>
            <a:r>
              <a:t>Nafee Ahmed • Isaiah Alfred • Jordan Monts • Malcolm Richards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  <a:latin typeface="Aptos Display"/>
              </a:defRPr>
            </a:pPr>
            <a:r>
              <a:t>What is CareerUp?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C232B"/>
                </a:solidFill>
                <a:latin typeface="Aptos"/>
              </a:defRPr>
            </a:pPr>
            <a:r>
              <a:t>A media-first professional networking platform for college students and employers.</a:t>
            </a:r>
          </a:p>
          <a:p>
            <a:pPr>
              <a:spcAft>
                <a:spcPts val="1200"/>
              </a:spcAft>
              <a:defRPr sz="1900">
                <a:solidFill>
                  <a:srgbClr val="1C232B"/>
                </a:solidFill>
                <a:latin typeface="Aptos"/>
              </a:defRPr>
            </a:pPr>
            <a:r>
              <a:t>Students can showcase projects, internships, research, creative work, skills, images, and short videos.</a:t>
            </a:r>
          </a:p>
          <a:p>
            <a:pPr>
              <a:spcAft>
                <a:spcPts val="1200"/>
              </a:spcAft>
              <a:defRPr sz="1900">
                <a:solidFill>
                  <a:srgbClr val="1C232B"/>
                </a:solidFill>
                <a:latin typeface="Aptos"/>
              </a:defRPr>
            </a:pPr>
            <a:r>
              <a:t>Employers can discover students, review portfolios, communicate with candidates, and post opportunities.</a:t>
            </a:r>
          </a:p>
          <a:p>
            <a:pPr>
              <a:spcAft>
                <a:spcPts val="1200"/>
              </a:spcAft>
              <a:defRPr sz="1900">
                <a:solidFill>
                  <a:srgbClr val="1C232B"/>
                </a:solidFill>
                <a:latin typeface="Aptos"/>
              </a:defRPr>
            </a:pPr>
            <a:r>
              <a:t>Primary roles: Student, Recruiter, Company Representative, Career Advisor, and Administrator.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  <a:latin typeface="Aptos Display"/>
              </a:defRPr>
            </a:pPr>
            <a:r>
              <a:t>Sprint Cycle 0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Preparation before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C232B"/>
                </a:solidFill>
                <a:latin typeface="Aptos"/>
              </a:defRPr>
            </a:pPr>
            <a:r>
              <a:t>Review the functional requirements as a team.</a:t>
            </a:r>
          </a:p>
          <a:p>
            <a:pPr>
              <a:spcAft>
                <a:spcPts val="1200"/>
              </a:spcAft>
              <a:defRPr sz="1900">
                <a:solidFill>
                  <a:srgbClr val="1C232B"/>
                </a:solidFill>
                <a:latin typeface="Aptos"/>
              </a:defRPr>
            </a:pPr>
            <a:r>
              <a:t>Establish one shared GitHub repository and initial project structure.</a:t>
            </a:r>
          </a:p>
          <a:p>
            <a:pPr>
              <a:spcAft>
                <a:spcPts val="1200"/>
              </a:spcAft>
              <a:defRPr sz="1900">
                <a:solidFill>
                  <a:srgbClr val="1C232B"/>
                </a:solidFill>
                <a:latin typeface="Aptos"/>
              </a:defRPr>
            </a:pPr>
            <a:r>
              <a:t>Make sure every team member can clone, pull, commit, and push.</a:t>
            </a:r>
          </a:p>
          <a:p>
            <a:pPr>
              <a:spcAft>
                <a:spcPts val="1200"/>
              </a:spcAft>
              <a:defRPr sz="1900">
                <a:solidFill>
                  <a:srgbClr val="1C232B"/>
                </a:solidFill>
                <a:latin typeface="Aptos"/>
              </a:defRPr>
            </a:pPr>
            <a:r>
              <a:t>Create the README, setup instructions, and project documentation.</a:t>
            </a:r>
          </a:p>
          <a:p>
            <a:pPr>
              <a:spcAft>
                <a:spcPts val="1200"/>
              </a:spcAft>
              <a:defRPr sz="1900">
                <a:solidFill>
                  <a:srgbClr val="1C232B"/>
                </a:solidFill>
                <a:latin typeface="Aptos"/>
              </a:defRPr>
            </a:pPr>
            <a:r>
              <a:t>Discuss the development technology and environment before implementation begins.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166360"/>
            <a:ext cx="1051560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B44"/>
                </a:solidFill>
              </a:defRPr>
            </a:pPr>
            <a:r>
              <a:t>Important: No project-specific functionality, final UI, or database design was implemented in Sprint 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  <a:latin typeface="Aptos Display"/>
              </a:defRPr>
            </a:pPr>
            <a:r>
              <a:t>Repository &amp; Team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CareerUp GitHub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C232B"/>
                </a:solidFill>
                <a:latin typeface="Aptos"/>
              </a:defRPr>
            </a:pPr>
            <a:r>
              <a:t>Created the shared CareerUp GitHub repository.</a:t>
            </a:r>
          </a:p>
          <a:p>
            <a:pPr>
              <a:spcAft>
                <a:spcPts val="1200"/>
              </a:spcAft>
              <a:defRPr sz="1800">
                <a:solidFill>
                  <a:srgbClr val="1C232B"/>
                </a:solidFill>
                <a:latin typeface="Aptos"/>
              </a:defRPr>
            </a:pPr>
            <a:r>
              <a:t>Added the README with the project description, team members, user roles, and setup instructions.</a:t>
            </a:r>
          </a:p>
          <a:p>
            <a:pPr>
              <a:spcAft>
                <a:spcPts val="1200"/>
              </a:spcAft>
              <a:defRPr sz="1800">
                <a:solidFill>
                  <a:srgbClr val="1C232B"/>
                </a:solidFill>
                <a:latin typeface="Aptos"/>
              </a:defRPr>
            </a:pPr>
            <a:r>
              <a:t>Created the initial repository structure for source code and documentation.</a:t>
            </a:r>
          </a:p>
          <a:p>
            <a:pPr>
              <a:spcAft>
                <a:spcPts val="1200"/>
              </a:spcAft>
              <a:defRPr sz="1800">
                <a:solidFill>
                  <a:srgbClr val="1C232B"/>
                </a:solidFill>
                <a:latin typeface="Aptos"/>
              </a:defRPr>
            </a:pPr>
            <a:r>
              <a:t>Each team member made an individual, nonfunctional contribution using their own GitHub account.</a:t>
            </a:r>
          </a:p>
          <a:p>
            <a:pPr>
              <a:spcAft>
                <a:spcPts val="1200"/>
              </a:spcAft>
              <a:defRPr sz="1800">
                <a:solidFill>
                  <a:srgbClr val="1C232B"/>
                </a:solidFill>
                <a:latin typeface="Aptos"/>
              </a:defRPr>
            </a:pPr>
            <a:r>
              <a:t>Each member verified repository access by cloning/pulling the current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  <a:latin typeface="Aptos Display"/>
              </a:defRPr>
            </a:pPr>
            <a:r>
              <a:t>Development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Current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257800" cy="4251960"/>
          </a:xfrm>
          <a:prstGeom prst="roundRect">
            <a:avLst/>
          </a:prstGeom>
          <a:solidFill>
            <a:srgbClr val="F2F6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900">
                <a:solidFill>
                  <a:srgbClr val="192B44"/>
                </a:solidFill>
              </a:defRPr>
            </a:pPr>
            <a:r>
              <a:t>Currently documented in README</a:t>
            </a:r>
          </a:p>
          <a:p>
            <a:pPr>
              <a:spcBef>
                <a:spcPts val="900"/>
              </a:spcBef>
              <a:defRPr sz="1700">
                <a:solidFill>
                  <a:srgbClr val="1C232B"/>
                </a:solidFill>
              </a:defRPr>
            </a:pPr>
            <a:r>
              <a:t>Java / HTML / CSS / JavaScript</a:t>
            </a:r>
          </a:p>
          <a:p>
            <a:pPr>
              <a:spcBef>
                <a:spcPts val="900"/>
              </a:spcBef>
              <a:defRPr sz="1700">
                <a:solidFill>
                  <a:srgbClr val="1C232B"/>
                </a:solidFill>
              </a:defRPr>
            </a:pPr>
            <a:r>
              <a:t>Spring Boot / React</a:t>
            </a:r>
          </a:p>
          <a:p>
            <a:pPr>
              <a:spcBef>
                <a:spcPts val="900"/>
              </a:spcBef>
              <a:defRPr sz="1700">
                <a:solidFill>
                  <a:srgbClr val="1C232B"/>
                </a:solidFill>
              </a:defRPr>
            </a:pPr>
            <a:r>
              <a:t>MySQL</a:t>
            </a:r>
          </a:p>
          <a:p>
            <a:pPr>
              <a:spcBef>
                <a:spcPts val="900"/>
              </a:spcBef>
              <a:defRPr sz="1700">
                <a:solidFill>
                  <a:srgbClr val="1C232B"/>
                </a:solidFill>
              </a:defRPr>
            </a:pPr>
            <a:r>
              <a:t>IntelliJ / Visual Studio</a:t>
            </a:r>
          </a:p>
          <a:p>
            <a:pPr>
              <a:spcBef>
                <a:spcPts val="900"/>
              </a:spcBef>
              <a:defRPr sz="1700">
                <a:solidFill>
                  <a:srgbClr val="1C232B"/>
                </a:solidFill>
              </a:defRPr>
            </a:pPr>
            <a:r>
              <a:t>JUnit / Jest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120640" cy="4251960"/>
          </a:xfrm>
          <a:prstGeom prst="roundRect">
            <a:avLst/>
          </a:prstGeom>
          <a:solidFill>
            <a:srgbClr val="FCF8EC"/>
          </a:solidFill>
          <a:ln>
            <a:solidFill>
              <a:srgbClr val="E6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900">
                <a:solidFill>
                  <a:srgbClr val="192B44"/>
                </a:solidFill>
              </a:defRPr>
            </a:pPr>
            <a:r>
              <a:t>Still under team discussion</a:t>
            </a:r>
          </a:p>
          <a:p>
            <a:pPr>
              <a:spcBef>
                <a:spcPts val="1400"/>
              </a:spcBef>
              <a:defRPr sz="1800">
                <a:solidFill>
                  <a:srgbClr val="1C232B"/>
                </a:solidFill>
              </a:defRPr>
            </a:pPr>
            <a:r>
              <a:t>The team has discussed frontend and backend options, but the final choices should not be treated as permanent until the group confirms them.</a:t>
            </a:r>
          </a:p>
          <a:p>
            <a:pPr>
              <a:spcBef>
                <a:spcPts val="1600"/>
              </a:spcBef>
              <a:defRPr sz="1700">
                <a:solidFill>
                  <a:srgbClr val="1C232B"/>
                </a:solidFill>
              </a:defRPr>
            </a:pPr>
            <a:r>
              <a:t>Sprint 0 requires the team to finalize the selected development technology before submission.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  <a:latin typeface="Aptos Display"/>
              </a:defRPr>
            </a:pPr>
            <a:r>
              <a:t>GitHub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Individual contribution and pull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6</a:t>
            </a:r>
          </a:p>
        </p:txBody>
      </p:sp>
      <p:pic>
        <p:nvPicPr>
          <p:cNvPr id="7" name="Picture 6" descr="pu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486400" cy="956372"/>
          </a:xfrm>
          <a:prstGeom prst="rect">
            <a:avLst/>
          </a:prstGeom>
        </p:spPr>
      </p:pic>
      <p:pic>
        <p:nvPicPr>
          <p:cNvPr id="8" name="Picture 7" descr="b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349240" cy="3280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806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F6973"/>
                </a:solidFill>
              </a:defRPr>
            </a:pPr>
            <a:r>
              <a:t>Commit history verifies individual contributions • Git Bash verifies a successful clone and pull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B44"/>
                </a:solidFill>
                <a:latin typeface="Aptos Display"/>
              </a:defRPr>
            </a:pPr>
            <a:r>
              <a:t>Team Meetings &amp; Sprint 0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How the team coordinated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7</a:t>
            </a:r>
          </a:p>
        </p:txBody>
      </p:sp>
      <p:pic>
        <p:nvPicPr>
          <p:cNvPr id="7" name="Picture 6" descr="IMG_209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212080" cy="3909060"/>
          </a:xfrm>
          <a:prstGeom prst="rect">
            <a:avLst/>
          </a:prstGeom>
        </p:spPr>
      </p:pic>
      <p:pic>
        <p:nvPicPr>
          <p:cNvPr id="8" name="Picture 7" descr="IMG_214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5212080" cy="39090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98348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92B44"/>
                </a:solidFill>
              </a:defRPr>
            </a:pPr>
            <a:r>
              <a:t>First meeting</a:t>
            </a:r>
          </a:p>
          <a:p>
            <a:pPr>
              <a:defRPr sz="1400">
                <a:solidFill>
                  <a:srgbClr val="1C232B"/>
                </a:solidFill>
              </a:defRPr>
            </a:pPr>
            <a:r>
              <a:t>Created the repository, reviewed the project direction, and discussed possible frontend/backend approaches.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98348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92B44"/>
                </a:solidFill>
              </a:defRPr>
            </a:pPr>
            <a:r>
              <a:t>Sprint 0 completion</a:t>
            </a:r>
          </a:p>
          <a:p>
            <a:pPr>
              <a:defRPr sz="1400">
                <a:solidFill>
                  <a:srgbClr val="1C232B"/>
                </a:solidFill>
              </a:defRPr>
            </a:pPr>
            <a:r>
              <a:t>Reviewed the completed setup work, GitHub contributions, verification evidence, presentation, and meeting documentation.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Sprint Cycle 0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953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✓ Shared repository established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✓ README and setup documentation created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✓ Individual GitHub contributions completed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✓ Clone / pull verification collected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✓ Meeting documentation completed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→ Final technology choices still need team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71500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CE6F0"/>
                </a:solidFill>
              </a:defRPr>
            </a:pPr>
            <a:r>
              <a:t>CareerUp is prepared to move into the next sprint once the remaining technology decision is finalized.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